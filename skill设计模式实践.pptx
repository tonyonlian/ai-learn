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247" autoAdjust="0"/>
  </p:normalViewPr>
  <p:slideViewPr>
    <p:cSldViewPr snapToGrid="0">
      <p:cViewPr varScale="1">
        <p:scale>
          <a:sx n="92" d="100"/>
          <a:sy n="92" d="100"/>
        </p:scale>
        <p:origin x="4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4AFD1-18E2-41CD-8E0E-1D55CCB07211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D65DB-4344-4B42-BB58-2FFBCE7D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53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919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工具包装模式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Tool Wrapper) 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按需专业知识按需要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生成器模式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Generator) 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模板的结构化输出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评审员模式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Reviewer)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根据标准进行评估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反转模式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Inversion)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行动前先交互问答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流水线模式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Pipeline) –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多步骤工作流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78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CA85-7555-45D6-43BC-0DCE727E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0195DB-1C2A-D805-D8EA-4E6621E0F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7D97E0-CB06-EDB4-E23E-2F279AA4B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C41FC2-4088-DABE-AF92-FF67E8CE4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99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B519-E521-DD7E-3C44-E78A8D43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FFBFDB-1AB1-89A9-801C-9E11FB76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79584C-468B-05E4-2F70-91EAF2149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C20A82-F219-6504-FE24-3DA5650A9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008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54CB-9ABA-9499-72AE-080DE0AC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5B1C8E-B438-5870-9782-2C2B5881F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5C5843-E497-9086-F7B4-245ADDCFE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DD50D-6FF2-7823-D16F-31F20B9F0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776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C06F-2577-EE1A-39EF-E2D381D0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DD8DE4-62A7-AA3B-36AA-F5398C361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4C7C9C-D536-354C-26F2-D327A767B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5000C5-3EAF-6652-A013-D8DF514DD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366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7002-844A-457A-9F8E-2B14C64F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A58A02-73D7-27C0-B08B-D68A22FC5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0CEB38-605D-B4D7-D26D-54384A0AC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6AB72C-21BD-A65A-6B7E-930E0D0E4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05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6BF40-D939-3435-0698-3DA4AD43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D6375A-3DC3-E319-AF8B-34B4B3811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0446F8-FE2D-C0AE-6D00-C79E39C42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69E39E-ECE9-24E7-BFC7-9C9861D0B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785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A16B-3F9E-F323-A1E9-D6E7CB83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5E9BAD-E892-8E8E-E288-6869B474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4DFE5-9459-5470-7A86-DC09D3623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85FB1-9340-F0D1-2BB9-3925FFBE0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D65DB-4344-4B42-BB58-2FFBCE7DBA4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72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5B778-5E0B-99AE-D459-5C6A3322F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1AE21-236F-2A90-8064-4096215B1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B208F-B03D-488B-296C-900FE68B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8602F-C8DC-4366-E537-4304ACAB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C8358-2E13-9973-4CB0-8A90CDBA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377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5B1A7-4818-BDCD-CE25-C644F637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5C5EB-020A-964E-3461-EC5B79AD8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95DF1-541F-4A81-7E55-132CA6C6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5BAAB-8094-2EFE-C72D-E0B0B3A1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1DD122-01B2-6335-D0C8-81972E03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58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49132-DE9A-CEDE-895A-48830BE0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D91FBE-3823-52EB-3355-E3D7AF5A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5471AC-3B6B-9F87-D8CB-DD51ADB2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3A34E-1372-A0A2-BD4F-E8877410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B846D7-BAB7-6625-633D-3E078BA7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51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5AD0-978E-607D-6BD2-18076BE7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D66F8-CA90-BA85-41F9-D26DABECD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66F53D-86FA-DA8A-CDC2-B7049F7EC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E9C59C-E1DA-FE03-DFFB-019E7C5F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8A7849-12D4-42B2-F603-91239566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0BEE02-939E-E633-D734-41865826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3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B540A-A499-4527-8D6A-AE06FB41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A54CE6-D363-3B29-0AAE-A22B334B6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00A3A2-313E-900A-EE9D-4A66DE5CB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37F3D5-93C4-61C2-58C2-16AF1E0F8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85846F-D5E5-E9B4-AD88-C915166BA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7CB162-8C0D-C470-5BEB-7DE23A55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905E8A-BEAF-25D1-C64F-341C6ABF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BE2834-1156-9F29-E33B-59D70C72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39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AB087-1D24-88C0-2CB4-88C3BD6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F193FF-4DE7-0FE6-6535-FB8DE4AF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89EC21-E244-052B-1EB9-56631838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0AEE7A-C728-EEB8-65A3-517115EA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05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C24A48-6295-D237-80C4-659D4AD2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74C484-3313-6DAA-9261-E80B4770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12E6B-4686-F8EC-7EA4-2EF98DDA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64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B592E-4C9D-D3E3-AAD4-8F63964A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ECCC83-756B-3E32-052B-2678FF66E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163635-FBD3-9EBB-B0C4-DF3AEF250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92DF15-2B8C-E238-0D97-4D745881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78CFE-A3BF-B423-0B07-150F2AA5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7FC92-224A-0B19-7F6E-19AA2B3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23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F8C22-44FB-DECA-0AD4-A9E8F350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2FB8E6-EA13-6960-C9DD-F8742D6CE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6DBF4C-791E-806C-0898-534BF5D0D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1FCD4-D22C-51F1-686C-691EC9C3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3A89D6-28C0-2492-6BBB-BCE354B5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05741D-45CF-DAE6-3F41-EE7DAB18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72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62DD8-7AAE-C245-0E46-C81A1398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503B4B-A74A-E5BF-85F6-346011CFE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119D0C-ECC8-2193-BFA6-9F6B19E5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EAC85-0A77-8DF3-FAEB-C6D126D1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EC0B2-35B8-AC9A-1DEC-B7F14508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80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B9ADE3-E079-2E84-C99B-197B37CAE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73FEA7-98C2-9959-3AF6-2DD4C3EB7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FB030B-689D-DB99-0EE4-458754BD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AE50E-B4D7-3CDC-8F55-AA2F81E5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156810-C6A6-BFBF-423D-448E4DB5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9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F7B33D-8DBC-5878-A1F1-256F7055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067324-C790-F360-5315-5E7A12E94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33860-E715-33A3-648C-37CEE001D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72BDD-BEF0-4347-87B5-47F93FE6A24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EF3B9-781C-6049-6409-77C63E1C3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55A8DB-28BE-30D9-2FF8-848E187AF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0A5D4-44A6-4CE2-8BDD-98053AC1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83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CDFBE-41E9-EF1B-AD7E-875701D8C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2613"/>
            <a:ext cx="9144000" cy="2387600"/>
          </a:xfrm>
        </p:spPr>
        <p:txBody>
          <a:bodyPr/>
          <a:lstStyle/>
          <a:p>
            <a:r>
              <a:rPr lang="en-US" altLang="zh-CN" dirty="0"/>
              <a:t>Skill</a:t>
            </a:r>
            <a:r>
              <a:rPr lang="zh-CN" altLang="en-US" dirty="0"/>
              <a:t>设计模式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AD473C-2090-0D5C-9C04-CDE71776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4717"/>
            <a:ext cx="9144000" cy="1655762"/>
          </a:xfrm>
        </p:spPr>
        <p:txBody>
          <a:bodyPr/>
          <a:lstStyle/>
          <a:p>
            <a:r>
              <a:rPr lang="en-US" altLang="zh-CN" b="1" dirty="0"/>
              <a:t>Google</a:t>
            </a:r>
            <a:r>
              <a:rPr lang="zh-CN" altLang="en-US" b="1" dirty="0"/>
              <a:t>总结的五种设计模式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183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48DA-4255-C858-18C6-B4AA0183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AC17993-9D10-81D5-25BA-C691D7C1F8FE}"/>
              </a:ext>
            </a:extLst>
          </p:cNvPr>
          <p:cNvSpPr txBox="1"/>
          <p:nvPr/>
        </p:nvSpPr>
        <p:spPr>
          <a:xfrm>
            <a:off x="515368" y="1374169"/>
            <a:ext cx="10421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关键问题不在格式，在内容设计</a:t>
            </a:r>
            <a:r>
              <a:rPr lang="zh-CN" altLang="en-US" dirty="0"/>
              <a:t>：大家说起</a:t>
            </a:r>
            <a:r>
              <a:rPr lang="en-US" altLang="zh-CN" dirty="0"/>
              <a:t>Agent Skills </a:t>
            </a:r>
            <a:r>
              <a:rPr lang="zh-CN" altLang="en-US" dirty="0"/>
              <a:t>最多的时侯说是结构是什么。有超过 </a:t>
            </a:r>
            <a:r>
              <a:rPr lang="en-US" altLang="zh-CN" dirty="0"/>
              <a:t>30 </a:t>
            </a:r>
            <a:r>
              <a:rPr lang="zh-CN" altLang="en-US" dirty="0"/>
              <a:t>种代理工具（例如 </a:t>
            </a:r>
            <a:r>
              <a:rPr lang="en-US" altLang="zh-CN" dirty="0"/>
              <a:t>Claude Code</a:t>
            </a:r>
            <a:r>
              <a:rPr lang="zh-CN" altLang="en-US" dirty="0"/>
              <a:t>、</a:t>
            </a:r>
            <a:r>
              <a:rPr lang="en-US" altLang="zh-CN" dirty="0"/>
              <a:t>Gemini CLI </a:t>
            </a:r>
            <a:r>
              <a:rPr lang="zh-CN" altLang="en-US" dirty="0"/>
              <a:t>和 </a:t>
            </a:r>
            <a:r>
              <a:rPr lang="en-US" altLang="zh-CN" dirty="0"/>
              <a:t>Cursor</a:t>
            </a:r>
            <a:r>
              <a:rPr lang="zh-CN" altLang="en-US" dirty="0"/>
              <a:t>）采用相同的布局，格式。目前格式已经不问题，而挑战在于内容设计</a:t>
            </a:r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五种设计模式应用而生</a:t>
            </a:r>
            <a:r>
              <a:rPr lang="zh-CN" altLang="en-US" dirty="0"/>
              <a:t>：</a:t>
            </a:r>
            <a:r>
              <a:rPr lang="en-US" altLang="zh-CN" dirty="0" err="1"/>
              <a:t>Goolgle</a:t>
            </a:r>
            <a:r>
              <a:rPr lang="zh-CN" altLang="en-US" dirty="0"/>
              <a:t>通过研究整个生态系统中技能的构建方式</a:t>
            </a:r>
            <a:r>
              <a:rPr lang="en-US" altLang="zh-CN" dirty="0"/>
              <a:t>——</a:t>
            </a:r>
            <a:r>
              <a:rPr lang="zh-CN" altLang="en-US" dirty="0"/>
              <a:t>从 </a:t>
            </a:r>
            <a:r>
              <a:rPr lang="en-US" altLang="zh-CN" dirty="0"/>
              <a:t>Anthropic </a:t>
            </a:r>
            <a:r>
              <a:rPr lang="zh-CN" altLang="en-US" dirty="0"/>
              <a:t>的存储库到 </a:t>
            </a:r>
            <a:r>
              <a:rPr lang="en-US" altLang="zh-CN" dirty="0" err="1"/>
              <a:t>Vercel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Google </a:t>
            </a:r>
            <a:r>
              <a:rPr lang="zh-CN" altLang="en-US" dirty="0"/>
              <a:t>的内部指南</a:t>
            </a:r>
            <a:r>
              <a:rPr lang="en-US" altLang="zh-CN" dirty="0"/>
              <a:t>——</a:t>
            </a:r>
            <a:r>
              <a:rPr lang="zh-CN" altLang="en-US" dirty="0"/>
              <a:t>总结出五种反复出现的设计模式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765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FE19-1EA2-F0AB-4AF6-2239F567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711CA68-1234-75BE-6A30-23364FCC4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2"/>
            <a:ext cx="12192000" cy="679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2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FD3D-AC5A-777C-AC9F-A72E783D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7F3B5BF-A3D9-1A64-ED4E-7BB44893C7BF}"/>
              </a:ext>
            </a:extLst>
          </p:cNvPr>
          <p:cNvSpPr txBox="1"/>
          <p:nvPr/>
        </p:nvSpPr>
        <p:spPr>
          <a:xfrm>
            <a:off x="8425044" y="664859"/>
            <a:ext cx="31061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工具包装模式能让你的智能体（</a:t>
            </a:r>
            <a:r>
              <a:rPr lang="en-US" altLang="zh-CN" sz="1200" dirty="0"/>
              <a:t>Agent</a:t>
            </a:r>
            <a:r>
              <a:rPr lang="zh-CN" altLang="en-US" sz="1200" dirty="0"/>
              <a:t>）按需获取特定库的上下文。与其将 </a:t>
            </a:r>
            <a:r>
              <a:rPr lang="en-US" altLang="zh-CN" sz="1200" dirty="0"/>
              <a:t>API </a:t>
            </a:r>
            <a:r>
              <a:rPr lang="zh-CN" altLang="en-US" sz="1200" dirty="0"/>
              <a:t>的调用惯例硬编码（</a:t>
            </a:r>
            <a:r>
              <a:rPr lang="en-US" altLang="zh-CN" sz="1200" dirty="0"/>
              <a:t>Hardcoding</a:t>
            </a:r>
            <a:r>
              <a:rPr lang="zh-CN" altLang="en-US" sz="1200" dirty="0"/>
              <a:t>）到你的系统提示词（</a:t>
            </a:r>
            <a:r>
              <a:rPr lang="en-US" altLang="zh-CN" sz="1200" dirty="0"/>
              <a:t>System Prompt</a:t>
            </a:r>
            <a:r>
              <a:rPr lang="zh-CN" altLang="en-US" sz="1200" dirty="0"/>
              <a:t>）中，不如将它们封装进一个“技能（</a:t>
            </a:r>
            <a:r>
              <a:rPr lang="en-US" altLang="zh-CN" sz="1200" dirty="0"/>
              <a:t>Skill</a:t>
            </a:r>
            <a:r>
              <a:rPr lang="zh-CN" altLang="en-US" sz="1200" dirty="0"/>
              <a:t>）”里。这样，你的智能体只有在真正处理该项技术时，才会加载相关的上下文信息。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它是实现起来最简单的模式。其核心逻辑是：𝚂𝙺𝙸𝙻𝙻</a:t>
            </a:r>
            <a:r>
              <a:rPr lang="en-US" altLang="zh-CN" sz="1200" dirty="0"/>
              <a:t>.</a:t>
            </a:r>
            <a:r>
              <a:rPr lang="zh-CN" altLang="en-US" sz="1200" dirty="0"/>
              <a:t>𝚖𝚍 文件会监听用户提示词中特定的库关键字，随后动态加载来自 𝚛𝚎𝚏𝚎𝚛𝚎𝚗𝚌𝚎𝚜</a:t>
            </a:r>
            <a:r>
              <a:rPr lang="en-US" altLang="zh-CN" sz="1200" dirty="0"/>
              <a:t>/ </a:t>
            </a:r>
            <a:r>
              <a:rPr lang="zh-CN" altLang="en-US" sz="1200" dirty="0"/>
              <a:t>目录的内部文档，并将这些规则视作“绝对真理”来执行。这就是你将团队内部的代码规范或特定框架的最佳实践，直接分发到开发者工作流中所使用的确切机制。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200789-DEEC-65B3-9FC3-BFB21B620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24" y="203437"/>
            <a:ext cx="8108031" cy="45221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61DF46-9DE8-177A-390F-1FB3BC12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24" y="4500605"/>
            <a:ext cx="73533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6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BA997-F09E-EC9A-738D-D41EC512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E97AF1F-8060-BF8C-304B-19C081C10E37}"/>
              </a:ext>
            </a:extLst>
          </p:cNvPr>
          <p:cNvSpPr txBox="1"/>
          <p:nvPr/>
        </p:nvSpPr>
        <p:spPr>
          <a:xfrm>
            <a:off x="8425044" y="664859"/>
            <a:ext cx="31061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如果说工具包装模式侧重于知识的应用，那么生成器模式则侧重于强制输出的一致性。如果你正苦恼于智能体每次运行生成的文档结构都不统一，生成器模式可以通过编排一套“填空式”的处理流程来解决这个问题。</a:t>
            </a:r>
            <a:endParaRPr lang="en-US" altLang="zh-CN" sz="1400" dirty="0"/>
          </a:p>
          <a:p>
            <a:endParaRPr lang="en-US" altLang="zh-CN" sz="1400" dirty="0"/>
          </a:p>
          <a:p>
            <a:endParaRPr lang="zh-CN" altLang="en-US" sz="1400" dirty="0"/>
          </a:p>
          <a:p>
            <a:r>
              <a:rPr lang="zh-CN" altLang="en-US" sz="1400" dirty="0"/>
              <a:t>它利用了两个可选目录：𝚊𝚜𝚜𝚎𝚝𝚜</a:t>
            </a:r>
            <a:r>
              <a:rPr lang="en-US" altLang="zh-CN" sz="1400" dirty="0"/>
              <a:t>/ </a:t>
            </a:r>
            <a:r>
              <a:rPr lang="zh-CN" altLang="en-US" sz="1400" dirty="0"/>
              <a:t>用于存放输出模板，𝚛𝚎𝚏𝚎𝚛𝚎𝚗𝚌𝚎𝚜</a:t>
            </a:r>
            <a:r>
              <a:rPr lang="en-US" altLang="zh-CN" sz="1400" dirty="0"/>
              <a:t>/ </a:t>
            </a:r>
            <a:r>
              <a:rPr lang="zh-CN" altLang="en-US" sz="1400" dirty="0"/>
              <a:t>用于存放风格指南。指令集则充当了“项目经理”的角色：它们告知智能体加载模板、阅读风格指南、向用户询问缺失的变量，最后填充文档。这对于生成可预测的 </a:t>
            </a:r>
            <a:r>
              <a:rPr lang="en-US" altLang="zh-CN" sz="1400" dirty="0"/>
              <a:t>API </a:t>
            </a:r>
            <a:r>
              <a:rPr lang="zh-CN" altLang="en-US" sz="1400" dirty="0"/>
              <a:t>文档、标准化提交信息（</a:t>
            </a:r>
            <a:r>
              <a:rPr lang="en-US" altLang="zh-CN" sz="1400" dirty="0"/>
              <a:t>Commit Message</a:t>
            </a:r>
            <a:r>
              <a:rPr lang="zh-CN" altLang="en-US" sz="1400" dirty="0"/>
              <a:t>）或构建项目架构原型非常实用。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97756F-AFDA-391C-17A2-65C3DDC2C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3"/>
            <a:ext cx="7982667" cy="44522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9217C4-EF11-A5D0-2CEA-1179DA296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27" y="4231735"/>
            <a:ext cx="74676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8EBA-4A12-E557-22EB-C57B5E0A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79092C6-5DCF-B260-A42E-405EDFB05B1A}"/>
              </a:ext>
            </a:extLst>
          </p:cNvPr>
          <p:cNvSpPr txBox="1"/>
          <p:nvPr/>
        </p:nvSpPr>
        <p:spPr>
          <a:xfrm>
            <a:off x="8425044" y="664859"/>
            <a:ext cx="310616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具包装模式（</a:t>
            </a:r>
            <a:r>
              <a:rPr lang="en-US" altLang="zh-CN" sz="1600" dirty="0"/>
              <a:t>Tool Wrapper</a:t>
            </a:r>
            <a:r>
              <a:rPr lang="zh-CN" altLang="en-US" sz="1600" dirty="0"/>
              <a:t>）是应用知识，生成器模式（</a:t>
            </a:r>
            <a:r>
              <a:rPr lang="en-US" altLang="zh-CN" sz="1600" dirty="0"/>
              <a:t>Generator</a:t>
            </a:r>
            <a:r>
              <a:rPr lang="zh-CN" altLang="en-US" sz="1600" dirty="0"/>
              <a:t>）是强制输出一致性，而评审员模式则通过将代码与核查清单（</a:t>
            </a:r>
            <a:r>
              <a:rPr lang="en-US" altLang="zh-CN" sz="1600" dirty="0"/>
              <a:t>Checklist</a:t>
            </a:r>
            <a:r>
              <a:rPr lang="zh-CN" altLang="en-US" sz="1600" dirty="0"/>
              <a:t>）进行对比并按严重程度打分，来执行质量控制。</a:t>
            </a:r>
          </a:p>
          <a:p>
            <a:r>
              <a:rPr lang="zh-CN" altLang="en-US" sz="1600" dirty="0"/>
              <a:t>这种模式在 </a:t>
            </a:r>
            <a:r>
              <a:rPr lang="en-US" altLang="zh-CN" sz="1600" dirty="0"/>
              <a:t>references/ </a:t>
            </a:r>
            <a:r>
              <a:rPr lang="zh-CN" altLang="en-US" sz="1600" dirty="0"/>
              <a:t>目录中存放一份单一的真相来源（通常是 </a:t>
            </a:r>
            <a:r>
              <a:rPr lang="en-US" altLang="zh-CN" sz="1600" dirty="0"/>
              <a:t>checklist.md</a:t>
            </a:r>
            <a:r>
              <a:rPr lang="zh-CN" altLang="en-US" sz="1600" dirty="0"/>
              <a:t>）。指令集（</a:t>
            </a:r>
            <a:r>
              <a:rPr lang="en-US" altLang="zh-CN" sz="1600" dirty="0"/>
              <a:t>Instructions</a:t>
            </a:r>
            <a:r>
              <a:rPr lang="zh-CN" altLang="en-US" sz="1600" dirty="0"/>
              <a:t>）会充当审计员的角色：它们要求智能体加载核查清单，扫描用户的代码，并针对每一项违反规则的内容输出具体的反馈。</a:t>
            </a:r>
          </a:p>
          <a:p>
            <a:r>
              <a:rPr lang="zh-CN" altLang="en-US" sz="1600" dirty="0"/>
              <a:t>这种模式最强大的地方在于其结构化的反馈回路。通过强制智能体按严重程度（如：</a:t>
            </a:r>
            <a:r>
              <a:rPr lang="en-US" altLang="zh-CN" sz="1600" dirty="0"/>
              <a:t>Critical</a:t>
            </a:r>
            <a:r>
              <a:rPr lang="zh-CN" altLang="en-US" sz="1600" dirty="0"/>
              <a:t>、</a:t>
            </a:r>
            <a:r>
              <a:rPr lang="en-US" altLang="zh-CN" sz="1600" dirty="0"/>
              <a:t>Warning</a:t>
            </a:r>
            <a:r>
              <a:rPr lang="zh-CN" altLang="en-US" sz="1600" dirty="0"/>
              <a:t>、</a:t>
            </a:r>
            <a:r>
              <a:rPr lang="en-US" altLang="zh-CN" sz="1600" dirty="0"/>
              <a:t>Information</a:t>
            </a:r>
            <a:r>
              <a:rPr lang="zh-CN" altLang="en-US" sz="1600" dirty="0"/>
              <a:t>）对发现的问题进行分类，你可以将其直接集成到自动化测试或 </a:t>
            </a:r>
            <a:r>
              <a:rPr lang="en-US" altLang="zh-CN" sz="1600" dirty="0"/>
              <a:t>CI/CD </a:t>
            </a:r>
            <a:r>
              <a:rPr lang="zh-CN" altLang="en-US" sz="1600" dirty="0"/>
              <a:t>流水线中。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9AB71D-111C-20A5-6563-F9003DF6A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2" y="113417"/>
            <a:ext cx="7929453" cy="44225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CD8527-CFEB-5832-21E9-40081D735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4" y="4651981"/>
            <a:ext cx="68580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0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1302-71C8-9F00-D46A-E33AF10D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79AD24F-7B26-E6F2-5D47-7AAC6E208091}"/>
              </a:ext>
            </a:extLst>
          </p:cNvPr>
          <p:cNvSpPr txBox="1"/>
          <p:nvPr/>
        </p:nvSpPr>
        <p:spPr>
          <a:xfrm>
            <a:off x="8425044" y="664859"/>
            <a:ext cx="310616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反转模式是处理模糊需求的终极武器。在传统模式下，智能体（</a:t>
            </a:r>
            <a:r>
              <a:rPr lang="en-US" altLang="zh-CN" sz="1600" dirty="0"/>
              <a:t>Agent</a:t>
            </a:r>
            <a:r>
              <a:rPr lang="zh-CN" altLang="en-US" sz="1600" dirty="0"/>
              <a:t>）会根据微弱的信息尝试猜测你的意图，这往往会导致“幻觉”或低质量的代码。而在反转模式下，智能体从“执行者”转变为“面试官”：在采取任何行动之前，它会主动通过提问来补全缺失的信息。</a:t>
            </a:r>
          </a:p>
          <a:p>
            <a:r>
              <a:rPr lang="zh-CN" altLang="en-US" sz="1600" dirty="0"/>
              <a:t>这种模式遵循“磨刀不误砍柴工”的原则。它将对话的控制权反转，让智能体负责确保任务规格（</a:t>
            </a:r>
            <a:r>
              <a:rPr lang="en-US" altLang="zh-CN" sz="1600" dirty="0"/>
              <a:t>Spec</a:t>
            </a:r>
            <a:r>
              <a:rPr lang="zh-CN" altLang="en-US" sz="1600" dirty="0"/>
              <a:t>）的完整性。</a:t>
            </a:r>
          </a:p>
          <a:p>
            <a:r>
              <a:rPr lang="zh-CN" altLang="en-US" sz="1600" dirty="0"/>
              <a:t>其核心机制是在 </a:t>
            </a:r>
            <a:r>
              <a:rPr lang="en-US" altLang="zh-CN" sz="1600" dirty="0"/>
              <a:t>references/ </a:t>
            </a:r>
            <a:r>
              <a:rPr lang="zh-CN" altLang="en-US" sz="1600" dirty="0"/>
              <a:t>目录中存放一份“发现问题清单”（</a:t>
            </a:r>
            <a:r>
              <a:rPr lang="en-US" altLang="zh-CN" sz="1600" dirty="0"/>
              <a:t>Discovery Questions</a:t>
            </a:r>
            <a:r>
              <a:rPr lang="zh-CN" altLang="en-US" sz="1600" dirty="0"/>
              <a:t>）。指令集会要求智能体在开始工作前，先评估用户的初始输入是否满足执行任务所需的最小信息集。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D36188-EDCB-F94E-4D38-058863652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2"/>
            <a:ext cx="7664208" cy="4274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C8CC42-3AE6-1505-EAA6-BBEEC3ED2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82" y="4475843"/>
            <a:ext cx="65436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BB0E-EDDD-9EB4-D67B-0462BD22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6004F59-0056-B200-5AB0-245181EA21F4}"/>
              </a:ext>
            </a:extLst>
          </p:cNvPr>
          <p:cNvSpPr txBox="1"/>
          <p:nvPr/>
        </p:nvSpPr>
        <p:spPr>
          <a:xfrm>
            <a:off x="8425044" y="664859"/>
            <a:ext cx="376695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如果说生成器模式（</a:t>
            </a:r>
            <a:r>
              <a:rPr lang="en-US" altLang="zh-CN" dirty="0"/>
              <a:t>Generator</a:t>
            </a:r>
            <a:r>
              <a:rPr lang="zh-CN" altLang="en-US" dirty="0"/>
              <a:t>）确保了输出的形状，那么流水线模式则确保了生产过程的严谨。在处理需要多个逻辑阶段的任务（如：先分析需求，再设计架构，最后编写代码）时，普通的智能体往往会跳过中间步骤直接给出最终结果，这会导致逻辑断层。</a:t>
            </a:r>
          </a:p>
          <a:p>
            <a:r>
              <a:rPr lang="zh-CN" altLang="en-US" dirty="0"/>
              <a:t>流水线模式通过在 𝚂𝙺𝙸𝙻𝙻</a:t>
            </a:r>
            <a:r>
              <a:rPr lang="en-US" altLang="zh-CN" dirty="0"/>
              <a:t>.</a:t>
            </a:r>
            <a:r>
              <a:rPr lang="zh-CN" altLang="en-US" dirty="0"/>
              <a:t>𝚖𝚍 中定义强制性的**检查点（</a:t>
            </a:r>
            <a:r>
              <a:rPr lang="en-US" altLang="zh-CN" dirty="0"/>
              <a:t>Checkpoints</a:t>
            </a:r>
            <a:r>
              <a:rPr lang="zh-CN" altLang="en-US" dirty="0"/>
              <a:t>）**来解决这个问题。它将复杂的任务拆解为一系列有序的子任务，并且规定：除非上一步的输出通过了验证，否则严禁进入下一步。</a:t>
            </a:r>
          </a:p>
          <a:p>
            <a:r>
              <a:rPr lang="zh-CN" altLang="en-US" dirty="0"/>
              <a:t>这种模式通常在 </a:t>
            </a:r>
            <a:r>
              <a:rPr lang="en-US" altLang="zh-CN" dirty="0"/>
              <a:t>assets/ </a:t>
            </a:r>
            <a:r>
              <a:rPr lang="zh-CN" altLang="en-US" dirty="0"/>
              <a:t>目录中存放每个阶段的“阶段性成果模板”。指令集则充当了“生产线主管”的角色：它们要求智能体在每个步骤结束后暂停，向用户汇报进度，并只有在获得确认或满足特定条件后才继续执行。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F39F137-F8C4-BCD5-A4AF-96EA611FF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2"/>
            <a:ext cx="7852672" cy="43797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D8C9C79-EC54-86E3-13D2-CB2197A1F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23" y="4086225"/>
            <a:ext cx="68008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2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804E-E715-9ABE-F0E4-6A700CCB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FEFAEFD-3589-F956-9E65-5E3D341B5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2"/>
            <a:ext cx="12192000" cy="679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9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C7B5-9B82-14B0-573E-6ADAF66D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16378C-E4EC-11E2-C016-1310D28BA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92" y="1013432"/>
            <a:ext cx="83153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7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945</Words>
  <Application>Microsoft Office PowerPoint</Application>
  <PresentationFormat>宽屏</PresentationFormat>
  <Paragraphs>69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Skill设计模式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Yongliang Tong</dc:creator>
  <cp:lastModifiedBy>Yongliang Tong</cp:lastModifiedBy>
  <cp:revision>15</cp:revision>
  <dcterms:created xsi:type="dcterms:W3CDTF">2026-03-28T14:42:32Z</dcterms:created>
  <dcterms:modified xsi:type="dcterms:W3CDTF">2026-03-28T16:06:26Z</dcterms:modified>
</cp:coreProperties>
</file>